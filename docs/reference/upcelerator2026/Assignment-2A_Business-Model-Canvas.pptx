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HESPERIA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2800" b="0">
                <a:solidFill>
                  <a:srgbClr val="007ACC"/>
                </a:solidFill>
                <a:latin typeface="Calibri"/>
              </a:defRPr>
            </a:pPr>
            <a:r>
              <a:t>Business Model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Deterministic Semantic Measurement &amp; Governance for AI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spcAft>
                <a:spcPts val="200"/>
              </a:spcAft>
              <a:defRPr sz="1200" b="0">
                <a:solidFill>
                  <a:srgbClr val="AAAAAA"/>
                </a:solidFill>
                <a:latin typeface="Calibri"/>
              </a:defRPr>
            </a:pPr>
            <a:r>
              <a:t>Upcelerator Phase 1 · Assignment N.2 · March 2026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AAAAAA"/>
                </a:solidFill>
                <a:latin typeface="Calibri"/>
              </a:defRPr>
            </a:pPr>
            <a:r>
              <a:t>Author: Igor Platonov · igareosh.com · prichindel.com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Framework: Osterwalder &amp; Pigneur (2009), Business Model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HESPERIA — Business Model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94360"/>
            <a:ext cx="2328611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594360"/>
            <a:ext cx="2328611" cy="274320"/>
          </a:xfrm>
          <a:prstGeom prst="rect">
            <a:avLst/>
          </a:prstGeom>
          <a:solidFill>
            <a:srgbClr val="007AC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2328611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KEY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720" y="886968"/>
            <a:ext cx="2277811" cy="26517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LLM providers (OpenAI,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  Anthropic, Google)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Cloud infra (Hetzner →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  AWS/GCP at scale)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Moldova IT Park (7% tax,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  2,725 companies)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Academic (UTM)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Accelerators (Upcelerator,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  Tekwill, Startup Moldova)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Regional SI partners (future)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2931" y="594360"/>
            <a:ext cx="2328611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2931" y="594360"/>
            <a:ext cx="2328611" cy="274320"/>
          </a:xfrm>
          <a:prstGeom prst="rect">
            <a:avLst/>
          </a:prstGeom>
          <a:solidFill>
            <a:srgbClr val="007AC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2931" y="594360"/>
            <a:ext cx="2328611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KEY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331" y="886968"/>
            <a:ext cx="2277811" cy="11658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Engine development &amp;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  determinism maintenance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API operations (FastAPI,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  Docker, schema versioning)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Customer pilots (6-10 wk)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Research &amp; calibration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B2B direct sales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EU AI Act compliance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2931" y="2080260"/>
            <a:ext cx="2328611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2931" y="2080260"/>
            <a:ext cx="2328611" cy="274320"/>
          </a:xfrm>
          <a:prstGeom prst="rect">
            <a:avLst/>
          </a:prstGeom>
          <a:solidFill>
            <a:srgbClr val="007AC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2931" y="2080260"/>
            <a:ext cx="2328611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KEY RESOURCES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331" y="2372868"/>
            <a:ext cx="2277811" cy="11658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IP: sealed engine v0.5.1,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  lexicon (Dict A/B), topology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Founder: full-stack engineer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  + product architect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Dev infrastructure (CI/CD)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Bootstrap capital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Gold evaluation corpora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1542" y="594360"/>
            <a:ext cx="2328611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1542" y="594360"/>
            <a:ext cx="2328611" cy="274320"/>
          </a:xfrm>
          <a:prstGeom prst="rect">
            <a:avLst/>
          </a:prstGeom>
          <a:solidFill>
            <a:srgbClr val="007AC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1542" y="594360"/>
            <a:ext cx="2328611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VALUE PROPOSITION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942" y="886968"/>
            <a:ext cx="2277811" cy="26517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Deterministic semantic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measurement &amp; governance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for AI pipelines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• Makes AI auditable,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  traceable, accountable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• Same input = same output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• Evidence traces + trust tiers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• 7 product lines, 14 metrics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Niche: between symbolic AI,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semantic search, &amp; knowledge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graphs — none deliver the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full deterministic package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0153" y="594360"/>
            <a:ext cx="2328611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0153" y="594360"/>
            <a:ext cx="2328611" cy="274320"/>
          </a:xfrm>
          <a:prstGeom prst="rect">
            <a:avLst/>
          </a:prstGeom>
          <a:solidFill>
            <a:srgbClr val="007AC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153" y="594360"/>
            <a:ext cx="2328611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CUSTOMER RELATIONSHIPS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5553" y="886968"/>
            <a:ext cx="2277811" cy="11658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API self-service (primary)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Structured pilots (6-10 wk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  with gold-set evaluation)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Enterprise contracts + SLA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Community &amp; content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Path: trial → API → pilot →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  enterprise → upsell (TRIZ)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0153" y="2080260"/>
            <a:ext cx="2328611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0153" y="2080260"/>
            <a:ext cx="2328611" cy="274320"/>
          </a:xfrm>
          <a:prstGeom prst="rect">
            <a:avLst/>
          </a:prstGeom>
          <a:solidFill>
            <a:srgbClr val="007AC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153" y="2080260"/>
            <a:ext cx="2328611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5553" y="2372868"/>
            <a:ext cx="2277811" cy="11658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Direct sales (founder-led,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  Chisinau IT network)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API / developer portal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Content &amp; thought leadership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  (LinkedIn, conferences)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Partner channel (SI, future)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Enterprise outbound (scale)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88764" y="594360"/>
            <a:ext cx="2328611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88764" y="594360"/>
            <a:ext cx="2328611" cy="274320"/>
          </a:xfrm>
          <a:prstGeom prst="rect">
            <a:avLst/>
          </a:prstGeom>
          <a:solidFill>
            <a:srgbClr val="007AC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8764" y="594360"/>
            <a:ext cx="2328611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CUSTOMER SEGMENTS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4164" y="886968"/>
            <a:ext cx="2277811" cy="26517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B2B · 50-5,000+ employees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€1M-€500M+ revenue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BEACHHEAD (Yr 1-2):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  Moldova: FinTech, banking,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  AI-driven SaaS (50-100 cos)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EXPANSION (Yr 2-3):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  Romania → EU compliance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  markets (~20K cos)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REGIONAL (Yr 3-5):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  Full EU enterprise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Buyers: CTO, Head of AI/ML,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Risk/Compliance Officers,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Product Owners (AI systems)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566160"/>
            <a:ext cx="5821527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566160"/>
            <a:ext cx="5821527" cy="274320"/>
          </a:xfrm>
          <a:prstGeom prst="rect">
            <a:avLst/>
          </a:prstGeom>
          <a:solidFill>
            <a:srgbClr val="007AC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3566160"/>
            <a:ext cx="5821527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COST STRUCTURE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120" y="3858768"/>
            <a:ext cx="5719927" cy="26517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Value-driven (differentiation) · No GPU costs (deterministic, CPU-only)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Fixed: ~€2,000-2,500/mo (server, tools, founder opportunity cost)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Variable: pilot support time, compute scaling with customers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Year 1 burn: €24,000-36,000 (bootstrapped solo founder)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Break-even: 8-12 contracts @ €5,000-10,000/yr each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5847" y="3566160"/>
            <a:ext cx="5821527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95847" y="3566160"/>
            <a:ext cx="5821527" cy="274320"/>
          </a:xfrm>
          <a:prstGeom prst="rect">
            <a:avLst/>
          </a:prstGeom>
          <a:solidFill>
            <a:srgbClr val="007AC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5847" y="3566160"/>
            <a:ext cx="5821527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REVENUE STREAMS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6647" y="3858768"/>
            <a:ext cx="5719927" cy="26517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Usage-based API: €0.05-0.20/document (tiered by volume)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Enterprise subscription: ACV €5,000-€20,000/yr (midpoint €10K)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TRIZ extension: +50-100% premium add-on (future)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On-premise license: €10,000-30,000/yr (regulated environments)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  <a:r>
              <a:t>• Yr 1: €25-100K → Yr 3: €0.8-1.5M → Yr 5: €2-4M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583680"/>
            <a:ext cx="11643055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700" b="0">
                <a:solidFill>
                  <a:srgbClr val="999999"/>
                </a:solidFill>
                <a:latin typeface="Calibri"/>
              </a:defRPr>
            </a:pPr>
            <a:r>
              <a:t>Osterwalder &amp; Pigneur (2009) · businessmodelgeneration.com · Hesperia Engine Dynamics v0.5 · igareosh.com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Value Proposition — What Hesperia Solves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1188720"/>
          </a:xfrm>
          <a:prstGeom prst="rect">
            <a:avLst/>
          </a:prstGeom>
          <a:solidFill>
            <a:srgbClr val="F0F4F8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Black-Box AI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7772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LLM outputs are non-deterministic. Specialists cannot verify or audit what AI produces. Hesperia maps text into stable structural classes (10 macro domains, 240 policy families) with evidence traces and trust tiers. Same input + config = same output. Every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11247120" cy="1188720"/>
          </a:xfrm>
          <a:prstGeom prst="rect">
            <a:avLst/>
          </a:prstGeom>
          <a:solidFill>
            <a:srgbClr val="F0F4F8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78992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Semantic Drift in AI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0789920" cy="7772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AI outputs drift silently over time (model updates, prompt changes, context shifts). Hesperia stores structural vectors over time, tracks divergence from baselines, and triggers alerts when drift exceeds thresholds.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1247120" cy="1188720"/>
          </a:xfrm>
          <a:prstGeom prst="rect">
            <a:avLst/>
          </a:prstGeom>
          <a:solidFill>
            <a:srgbClr val="F0F4F8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1078992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Compliance &amp; Audit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789920" cy="7772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EU AI Act and enterprise governance require traceability of AI-assisted decisions. Hesperia provides sealed runtime with public audit manifests — version, checksum, evidence count — for every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83480"/>
            <a:ext cx="11247120" cy="1188720"/>
          </a:xfrm>
          <a:prstGeom prst="rect">
            <a:avLst/>
          </a:prstGeom>
          <a:solidFill>
            <a:srgbClr val="F0F4F8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1078992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Text Measurement Before Human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10789920" cy="7772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Specialists spend excessive time on documents that could be pre-screened. Structural measurement (density, coherence, complexity, contradiction detection) enables automated triage before human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1000" b="1">
                <a:solidFill>
                  <a:srgbClr val="555555"/>
                </a:solidFill>
                <a:latin typeface="Calibri"/>
              </a:defRPr>
            </a:pPr>
            <a:r>
              <a:t>Position: between symbolic AI (Expert.ai), semantic search (Sinequa), knowledge graphs (Diffbot, RelationalAI). None deliver the full deterministic package.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Customer Segments &amp; Market 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303520" cy="1463040"/>
          </a:xfrm>
          <a:prstGeom prst="rect">
            <a:avLst/>
          </a:prstGeom>
          <a:solidFill>
            <a:srgbClr val="F0F4F8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493776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BEACHHEAD — Moldova (Year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937760" cy="10058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50-100 IT Park companies deploying AI in production. Verticals: FinTech, banking, AI-driven SaaS. Buyer: CTO, Head of AI/ML. ACV: €5-10K. Target: €1M ARR at 100.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5303520" cy="1463040"/>
          </a:xfrm>
          <a:prstGeom prst="rect">
            <a:avLst/>
          </a:prstGeom>
          <a:solidFill>
            <a:srgbClr val="F0F4F8"/>
          </a:solidFill>
          <a:ln w="9525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493776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200" b="1">
                <a:solidFill>
                  <a:srgbClr val="009688"/>
                </a:solidFill>
                <a:latin typeface="Calibri"/>
              </a:defRPr>
            </a:pPr>
            <a:r>
              <a:t>EXPANSION — Romania → EU (Year 2-3)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4937760" cy="10058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EU markets with strict compliance (Romania, DACH, Nordics). ~20,000 relevant companies with regulatory/financial AI risk. Buyer: CTO, Risk/Compliance Officers. ACV: €10-20K.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5303520" cy="1463040"/>
          </a:xfrm>
          <a:prstGeom prst="rect">
            <a:avLst/>
          </a:prstGeom>
          <a:solidFill>
            <a:srgbClr val="F0F4F8"/>
          </a:solidFill>
          <a:ln w="9525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493776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200" b="1">
                <a:solidFill>
                  <a:srgbClr val="7B1FA2"/>
                </a:solidFill>
                <a:latin typeface="Calibri"/>
              </a:defRPr>
            </a:pPr>
            <a:r>
              <a:t>REGIONAL — Full EU / Enterprise (Year 3-5)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4937760" cy="10058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FinTech, insurance, healthcare, legal, public sector. Part of €5B+ addressable market (industry: $10-15B+). Target: €2-4M revenue, 200+ customers.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5486400" cy="521208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029200" cy="49377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MARKET SIZING (bottom-up)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TAM (bottom-up: 500K cos × €10K):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€5B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Industry context: $10-15B+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AI governance sub-segment: $2.5-3.4B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SAM (EU + Eastern Europe, compliance):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~20,000 companies × €10K ACV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= €200M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SOM (Year 1-3, 50-200 companies):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100 × €10,000 = €1M ARR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TAM is irrelevant for execution.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SOM defines strategy.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─────────────────────────────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Moldova IT Park (2025):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2,725 cos · $1B turnover · 25K+ staff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Romania (2025):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IT = 7% GDP · 5.2% AI adoption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Budgets shifting to AI +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Competitive Positioning — 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No clean direct competitors. Hesperia sits at the intersection of three established categories: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858000" cy="868680"/>
          </a:xfrm>
          <a:prstGeom prst="rect">
            <a:avLst/>
          </a:prstGeom>
          <a:solidFill>
            <a:srgbClr val="F0F4F8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64592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000" b="1">
                <a:solidFill>
                  <a:srgbClr val="007ACC"/>
                </a:solidFill>
                <a:latin typeface="Calibri"/>
              </a:defRPr>
            </a:pPr>
            <a:r>
              <a:t>Sinequa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89888"/>
            <a:ext cx="484632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0">
                <a:solidFill>
                  <a:srgbClr val="555555"/>
                </a:solidFill>
                <a:latin typeface="Calibri"/>
              </a:defRPr>
            </a:pPr>
            <a:r>
              <a:t>Semantic search + NLP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649224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Overlap: Meaning extraction, enterprise reliability, ontology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649224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007ACC"/>
                </a:solidFill>
                <a:latin typeface="Calibri"/>
              </a:defRPr>
            </a:pPr>
            <a:r>
              <a:t>Gap: Not deterministic; probabilistic + heuristic-heavy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6858000" cy="868680"/>
          </a:xfrm>
          <a:prstGeom prst="rect">
            <a:avLst/>
          </a:prstGeom>
          <a:solidFill>
            <a:srgbClr val="F0F4F8"/>
          </a:solidFill>
          <a:ln w="9525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50008"/>
            <a:ext cx="164592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Expert.ai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50008"/>
            <a:ext cx="484632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0">
                <a:solidFill>
                  <a:srgbClr val="555555"/>
                </a:solidFill>
                <a:latin typeface="Calibri"/>
              </a:defRPr>
            </a:pPr>
            <a:r>
              <a:t>Symbolic / rule-based NLP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649224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Overlap: Closest philosophy: structured meaning &gt; generation, 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62072"/>
            <a:ext cx="649224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009688"/>
                </a:solidFill>
                <a:latin typeface="Calibri"/>
              </a:defRPr>
            </a:pPr>
            <a:r>
              <a:t>Gap: Legacy architecture, less strict determinism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6858000" cy="868680"/>
          </a:xfrm>
          <a:prstGeom prst="rect">
            <a:avLst/>
          </a:prstGeom>
          <a:solidFill>
            <a:srgbClr val="F0F4F8"/>
          </a:solidFill>
          <a:ln w="9525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10128"/>
            <a:ext cx="164592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000" b="1">
                <a:solidFill>
                  <a:srgbClr val="7B1FA2"/>
                </a:solidFill>
                <a:latin typeface="Calibri"/>
              </a:defRPr>
            </a:pPr>
            <a:r>
              <a:t>Cogito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310128"/>
            <a:ext cx="484632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0">
                <a:solidFill>
                  <a:srgbClr val="555555"/>
                </a:solidFill>
                <a:latin typeface="Calibri"/>
              </a:defRPr>
            </a:pPr>
            <a:r>
              <a:t>Semantic annotation + meaning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66160"/>
            <a:ext cx="649224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Overlap: Text → structured representation, data labeling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22192"/>
            <a:ext cx="649224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7B1FA2"/>
                </a:solidFill>
                <a:latin typeface="Calibri"/>
              </a:defRPr>
            </a:pPr>
            <a:r>
              <a:t>Gap: Service-heavy (not engine), no unified deterministic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51960"/>
            <a:ext cx="6858000" cy="868680"/>
          </a:xfrm>
          <a:prstGeom prst="rect">
            <a:avLst/>
          </a:prstGeom>
          <a:solidFill>
            <a:srgbClr val="F0F4F8"/>
          </a:solidFill>
          <a:ln w="9525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70248"/>
            <a:ext cx="164592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000" b="1">
                <a:solidFill>
                  <a:srgbClr val="E65C00"/>
                </a:solidFill>
                <a:latin typeface="Calibri"/>
              </a:defRPr>
            </a:pPr>
            <a:r>
              <a:t>RelationalAI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270248"/>
            <a:ext cx="484632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0">
                <a:solidFill>
                  <a:srgbClr val="555555"/>
                </a:solidFill>
                <a:latin typeface="Calibri"/>
              </a:defRPr>
            </a:pPr>
            <a:r>
              <a:t>Structured reasoning over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26280"/>
            <a:ext cx="649224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Overlap: Deterministic reasoning layer, logic + relationships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82312"/>
            <a:ext cx="649224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E65C00"/>
                </a:solidFill>
                <a:latin typeface="Calibri"/>
              </a:defRPr>
            </a:pPr>
            <a:r>
              <a:t>Gap: Not text-native; requires structured inputs 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6858000" cy="868680"/>
          </a:xfrm>
          <a:prstGeom prst="rect">
            <a:avLst/>
          </a:prstGeom>
          <a:solidFill>
            <a:srgbClr val="F0F4F8"/>
          </a:solidFill>
          <a:ln w="952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230368"/>
            <a:ext cx="164592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000" b="1">
                <a:solidFill>
                  <a:srgbClr val="C62828"/>
                </a:solidFill>
                <a:latin typeface="Calibri"/>
              </a:defRPr>
            </a:pPr>
            <a:r>
              <a:t>Diffbot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230368"/>
            <a:ext cx="484632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0">
                <a:solidFill>
                  <a:srgbClr val="555555"/>
                </a:solidFill>
                <a:latin typeface="Calibri"/>
              </a:defRPr>
            </a:pPr>
            <a:r>
              <a:t>Text → structured knowledge 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486400"/>
            <a:ext cx="649224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Overlap: Entity + relationship extraction at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742432"/>
            <a:ext cx="649224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C62828"/>
                </a:solidFill>
                <a:latin typeface="Calibri"/>
              </a:defRPr>
            </a:pPr>
            <a:r>
              <a:t>Gap: Extraction-focused, no semantic dynamics or governance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371600"/>
            <a:ext cx="4114800" cy="484632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1463040"/>
            <a:ext cx="3749039" cy="45720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HESPERIA'S WEDGE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What none of them deliver: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✓ Deterministic structural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  placement (hash-verifiable)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✓ Sealed projection +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  public-safe output gate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✓ Topology-aware propagation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  (icosahedral 12-node graph)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✓ Evidence traces with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  confidence bands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✓ Trust tiers for automated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  vs. human-review routing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✓ 7 product lines from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  one deterministic engine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Position: enhancer / middleware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Not a competitor to any of them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7315200" cy="4114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Competitive Landscape — Full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22960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1">
                <a:solidFill>
                  <a:srgbClr val="007ACC"/>
                </a:solidFill>
                <a:latin typeface="Calibri"/>
              </a:defRPr>
            </a:pPr>
            <a:r>
              <a:t>JTBD: Convert text into stable, auditable, structured meaning for decision-making and automation.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834640" cy="502920"/>
          </a:xfrm>
          <a:prstGeom prst="rect">
            <a:avLst/>
          </a:prstGeom>
          <a:solidFill>
            <a:srgbClr val="007AC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27100"/>
            <a:ext cx="283464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2834640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same job, similar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42720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5120" y="1455420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007ACC"/>
                </a:solidFill>
                <a:latin typeface="Calibri"/>
              </a:defRPr>
            </a:pPr>
            <a:r>
              <a:t>Expert.ai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120" y="1625600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Rule-based NLP + knowledge graphs. Gap: weaker stability, less strict aggregation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92528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120" y="2205228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007ACC"/>
                </a:solidFill>
                <a:latin typeface="Calibri"/>
              </a:defRPr>
            </a:pPr>
            <a:r>
              <a:t>Sinequa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120" y="2375408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Deep semantic indexing + enterprise reasoning. Gap: heuristic/probabilistic 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42336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120" y="2955036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007ACC"/>
                </a:solidFill>
                <a:latin typeface="Calibri"/>
              </a:defRPr>
            </a:pPr>
            <a:r>
              <a:t>Diffbot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120" y="3125216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Text → entities → knowledge graph. Gap: extraction-focused, no dynamics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92144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5120" y="3704844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007ACC"/>
                </a:solidFill>
                <a:latin typeface="Calibri"/>
              </a:defRPr>
            </a:pPr>
            <a:r>
              <a:t>RelationalAI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120" y="3875024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Deterministic reasoning over structured data. Gap: not text-native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41952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5120" y="4454652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007ACC"/>
                </a:solidFill>
                <a:latin typeface="Calibri"/>
              </a:defRPr>
            </a:pPr>
            <a:r>
              <a:t>spaCy / CoreNLP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120" y="4624832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Components for custom pipelines. Gap: not a governed semantic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914400"/>
            <a:ext cx="2834640" cy="502920"/>
          </a:xfrm>
          <a:prstGeom prst="rect">
            <a:avLst/>
          </a:prstGeom>
          <a:solidFill>
            <a:srgbClr val="00968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927100"/>
            <a:ext cx="283464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INDIRECT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115568"/>
            <a:ext cx="2834640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same job, probabilistic paradigm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1442720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1200" y="1455420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009688"/>
                </a:solidFill>
                <a:latin typeface="Calibri"/>
              </a:defRPr>
            </a:pPr>
            <a:r>
              <a:t>OpenAI (GPT)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1200" y="1625600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General reasoning. Tradeoff: non-deterministic, drift, hallucinations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2192528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51200" y="2205228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009688"/>
                </a:solidFill>
                <a:latin typeface="Calibri"/>
              </a:defRPr>
            </a:pPr>
            <a:r>
              <a:t>Anthropic (Claude)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51200" y="2375408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Safety-tuned LLMs. Tradeoff: still probabilistic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942336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51200" y="2955036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009688"/>
                </a:solidFill>
                <a:latin typeface="Calibri"/>
              </a:defRPr>
            </a:pPr>
            <a:r>
              <a:t>Google (Gemini)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1200" y="3125216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Multimodal reasoning. Tradeoff: no auditability guarantees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692144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51200" y="3704844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009688"/>
                </a:solidFill>
                <a:latin typeface="Calibri"/>
              </a:defRPr>
            </a:pPr>
            <a:r>
              <a:t>Cohere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51200" y="3875024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Enterprise NLP APIs. Tradeoff: output variability remains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4441952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51200" y="4454652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009688"/>
                </a:solidFill>
                <a:latin typeface="Calibri"/>
              </a:defRPr>
            </a:pPr>
            <a:r>
              <a:t>Pinecone / Weaviate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51200" y="4624832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RAG retrieval layer. Tradeoff: similarity ≠ meaning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914400"/>
            <a:ext cx="2834640" cy="502920"/>
          </a:xfrm>
          <a:prstGeom prst="rect">
            <a:avLst/>
          </a:prstGeom>
          <a:solidFill>
            <a:srgbClr val="7B1FA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927100"/>
            <a:ext cx="283464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SUBSTITUTES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1115568"/>
            <a:ext cx="2834640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same pain, post-hoc solution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1442720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7280" y="1455420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7B1FA2"/>
                </a:solidFill>
                <a:latin typeface="Calibri"/>
              </a:defRPr>
            </a:pPr>
            <a:r>
              <a:t>Arize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7280" y="1625600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Drift detection, LLM evals — monitor after the fact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2192528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7280" y="2205228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7B1FA2"/>
                </a:solidFill>
                <a:latin typeface="Calibri"/>
              </a:defRPr>
            </a:pPr>
            <a:r>
              <a:t>Arthur 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7280" y="2375408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Bias, explainability, compliance — control, not structure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2942336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7280" y="2955036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7B1FA2"/>
                </a:solidFill>
                <a:latin typeface="Calibri"/>
              </a:defRPr>
            </a:pPr>
            <a:r>
              <a:t>Patronus 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7280" y="3125216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Hallucination detection, guardrails — patch instability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3692144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7280" y="3704844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7B1FA2"/>
                </a:solidFill>
                <a:latin typeface="Calibri"/>
              </a:defRPr>
            </a:pPr>
            <a:r>
              <a:t>LangSmith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7280" y="3875024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Prompt tracing, debugging — observability layer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441952"/>
            <a:ext cx="2834640" cy="724408"/>
          </a:xfrm>
          <a:prstGeom prst="rect">
            <a:avLst/>
          </a:prstGeom>
          <a:solidFill>
            <a:srgbClr val="F0F4F8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7280" y="4454652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7B1FA2"/>
                </a:solidFill>
                <a:latin typeface="Calibri"/>
              </a:defRPr>
            </a:pPr>
            <a:r>
              <a:t>Weights &amp; Biases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7280" y="4624832"/>
            <a:ext cx="2733040" cy="548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Evaluation / monitoring workflows — experiment tracking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52560" y="914400"/>
            <a:ext cx="2834640" cy="502920"/>
          </a:xfrm>
          <a:prstGeom prst="rect">
            <a:avLst/>
          </a:prstGeom>
          <a:solidFill>
            <a:srgbClr val="E65C0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52560" y="927100"/>
            <a:ext cx="2834640" cy="228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STATUS QUO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1115568"/>
            <a:ext cx="2834640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strongest real competitor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1442720"/>
            <a:ext cx="2834640" cy="1224280"/>
          </a:xfrm>
          <a:prstGeom prst="rect">
            <a:avLst/>
          </a:prstGeom>
          <a:solidFill>
            <a:srgbClr val="F0F4F8"/>
          </a:solidFill>
          <a:ln w="63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03360" y="1455420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E65C00"/>
                </a:solidFill>
                <a:latin typeface="Calibri"/>
              </a:defRPr>
            </a:pPr>
            <a:r>
              <a:t>Human workflows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03360" y="1625600"/>
            <a:ext cx="2733040" cy="1048512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Analysts reading docs manually, compliance review, domain expert judgment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52560" y="2692400"/>
            <a:ext cx="2834640" cy="1224280"/>
          </a:xfrm>
          <a:prstGeom prst="rect">
            <a:avLst/>
          </a:prstGeom>
          <a:solidFill>
            <a:srgbClr val="F0F4F8"/>
          </a:solidFill>
          <a:ln w="63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03360" y="2705100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E65C00"/>
                </a:solidFill>
                <a:latin typeface="Calibri"/>
              </a:defRPr>
            </a:pPr>
            <a:r>
              <a:t>Simple tooling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03360" y="2875280"/>
            <a:ext cx="2733040" cy="1048512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Excel tagging, keyword search (Elastic), internal taxonomies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52560" y="3942080"/>
            <a:ext cx="2834640" cy="1224280"/>
          </a:xfrm>
          <a:prstGeom prst="rect">
            <a:avLst/>
          </a:prstGeom>
          <a:solidFill>
            <a:srgbClr val="F0F4F8"/>
          </a:solidFill>
          <a:ln w="63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03360" y="3954780"/>
            <a:ext cx="2733040" cy="182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800" b="1">
                <a:solidFill>
                  <a:srgbClr val="E65C00"/>
                </a:solidFill>
                <a:latin typeface="Calibri"/>
              </a:defRPr>
            </a:pPr>
            <a:r>
              <a:t>"Good enough" LLM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03360" y="4124960"/>
            <a:ext cx="2733040" cy="1048512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ChatGPT + prompts, basic RAG pipelines, accepting occasional errors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257800"/>
            <a:ext cx="11612880" cy="141732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308600"/>
            <a:ext cx="5029200" cy="12801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STRATEGIC READ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Not a crowded same-product market.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Split market: symbolic fragments vs probabilistic stack.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Real fight is paradigm, not feature.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  Them:  generate → evaluate → patch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  You:   structure → stabilize → audit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0720" y="5308600"/>
            <a:ext cx="3383280" cy="12801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WEDGE STRATEGY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Start where auditability is non-negotiable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(compliance, legal, finance).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Replace a single decision workflow end-to-end.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Prove: lower error + traceability + repeatability.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Main risk: adoption friction.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Substitutes are easier to bolt onto existing stacks.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0" y="5283200"/>
            <a:ext cx="2468880" cy="1325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spcAft>
                <a:spcPts val="200"/>
              </a:spcAft>
              <a:defRPr sz="1000" b="1">
                <a:solidFill>
                  <a:srgbClr val="007ACC"/>
                </a:solidFill>
                <a:latin typeface="Calibri"/>
              </a:defRPr>
            </a:pPr>
          </a:p>
          <a:p>
            <a:pPr algn="ctr">
              <a:spcAft>
                <a:spcPts val="200"/>
              </a:spcAft>
              <a:defRPr sz="1000" b="1">
                <a:solidFill>
                  <a:srgbClr val="007ACC"/>
                </a:solidFill>
                <a:latin typeface="Calibri"/>
              </a:defRPr>
            </a:pPr>
            <a:r>
              <a:t>"Others monitor unstable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007ACC"/>
                </a:solidFill>
                <a:latin typeface="Calibri"/>
              </a:defRPr>
            </a:pPr>
            <a:r>
              <a:t> AI outputs.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007ACC"/>
                </a:solidFill>
                <a:latin typeface="Calibri"/>
              </a:defRPr>
            </a:pPr>
          </a:p>
          <a:p>
            <a:pPr algn="ctr">
              <a:spcAft>
                <a:spcPts val="200"/>
              </a:spcAft>
              <a:defRPr sz="1000" b="1">
                <a:solidFill>
                  <a:srgbClr val="007ACC"/>
                </a:solidFill>
                <a:latin typeface="Calibri"/>
              </a:defRPr>
            </a:pPr>
            <a:r>
              <a:t> HESPERIA produces stable,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007ACC"/>
                </a:solidFill>
                <a:latin typeface="Calibri"/>
              </a:defRPr>
            </a:pPr>
            <a:r>
              <a:t> auditable meaning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007ACC"/>
                </a:solidFill>
                <a:latin typeface="Calibri"/>
              </a:defRPr>
            </a:pPr>
            <a:r>
              <a:t> by design."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Competitive Grading Matrix (scale 1–4, per assignment)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48640"/>
            <a:ext cx="2560320" cy="41148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561340"/>
            <a:ext cx="2560320" cy="4114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548640"/>
            <a:ext cx="1280160" cy="41148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561340"/>
            <a:ext cx="1280160" cy="4114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HESPERIA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48640"/>
            <a:ext cx="1463040" cy="41148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561340"/>
            <a:ext cx="1463040" cy="4114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Arize AI</a:t>
            </a:r>
            <a:br/>
            <a:r>
              <a:t>$131M Ser.C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548640"/>
            <a:ext cx="1463040" cy="41148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561340"/>
            <a:ext cx="1463040" cy="4114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Arthur AI</a:t>
            </a:r>
            <a:br/>
            <a:r>
              <a:t>$63M Ser.B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548640"/>
            <a:ext cx="1463040" cy="41148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561340"/>
            <a:ext cx="1463040" cy="4114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Patronus AI</a:t>
            </a:r>
            <a:br/>
            <a:r>
              <a:t>$17M Ser.A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548640"/>
            <a:ext cx="1463040" cy="41148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561340"/>
            <a:ext cx="1463040" cy="4114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Status Quo</a:t>
            </a:r>
            <a:br/>
            <a:r>
              <a:t>(Manual)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960120"/>
            <a:ext cx="256032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420" y="960120"/>
            <a:ext cx="248412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Product (Quality / Depth)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960120"/>
            <a:ext cx="128016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960120"/>
            <a:ext cx="128016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2E7D3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960120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960120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960120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960120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960120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960120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960120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960120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252728"/>
            <a:ext cx="2560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" y="1252728"/>
            <a:ext cx="248412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Price (Value for money)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1252728"/>
            <a:ext cx="12801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1252728"/>
            <a:ext cx="128016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C628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1252728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1252728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1252728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1252728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1252728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1252728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1252728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1252728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1545336"/>
            <a:ext cx="256032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2420" y="1545336"/>
            <a:ext cx="248412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Ease of Use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1545336"/>
            <a:ext cx="128016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1545336"/>
            <a:ext cx="128016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C628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1545336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0" y="1545336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1545336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0" y="1545336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1545336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1545336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1545336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1545336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1837944"/>
            <a:ext cx="2560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2420" y="1837944"/>
            <a:ext cx="248412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Explainability / Auditability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34640" y="1837944"/>
            <a:ext cx="12801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34640" y="1837944"/>
            <a:ext cx="128016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2E7D3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1837944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0" y="1837944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1837944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77840" y="1837944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40880" y="1837944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40880" y="1837944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03920" y="1837944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20" y="1837944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130552"/>
            <a:ext cx="256032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2420" y="2130552"/>
            <a:ext cx="248412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Brand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34640" y="2130552"/>
            <a:ext cx="128016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0" y="2130552"/>
            <a:ext cx="128016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C628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2130552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0" y="2130552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77840" y="2130552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77840" y="2130552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40880" y="2130552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40880" y="2130552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03920" y="2130552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03920" y="2130552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2423160"/>
            <a:ext cx="2560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2420" y="2423160"/>
            <a:ext cx="248412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Distribution / Sales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834640" y="2423160"/>
            <a:ext cx="12801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34640" y="2423160"/>
            <a:ext cx="128016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C628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0" y="2423160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0" y="2423160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577840" y="2423160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577840" y="2423160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40880" y="2423160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40880" y="2423160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03920" y="2423160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03920" y="2423160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2715768"/>
            <a:ext cx="256032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12420" y="2715768"/>
            <a:ext cx="248412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Resources (Capital / Team)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834640" y="2715768"/>
            <a:ext cx="128016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834640" y="2715768"/>
            <a:ext cx="128016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C628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0" y="2715768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0" y="2715768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77840" y="2715768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577840" y="2715768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040880" y="2715768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40880" y="2715768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503920" y="2715768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503920" y="2715768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3008376"/>
            <a:ext cx="2560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12420" y="3008376"/>
            <a:ext cx="248412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Integration Capability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834640" y="3008376"/>
            <a:ext cx="12801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834640" y="3008376"/>
            <a:ext cx="128016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C628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14800" y="3008376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114800" y="3008376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577840" y="3008376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577840" y="3008376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040880" y="3008376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40880" y="3008376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503920" y="3008376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503920" y="3008376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3300984"/>
            <a:ext cx="256032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12420" y="3300984"/>
            <a:ext cx="248412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Compliance Readiness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834640" y="3300984"/>
            <a:ext cx="128016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834640" y="3300984"/>
            <a:ext cx="128016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114800" y="3300984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114800" y="3300984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577840" y="3300984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577840" y="3300984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040880" y="3300984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040880" y="3300984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503920" y="3300984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503920" y="3300984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" y="3593592"/>
            <a:ext cx="2560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12420" y="3593592"/>
            <a:ext cx="248412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Differentiation Strength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834640" y="3593592"/>
            <a:ext cx="12801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834640" y="3593592"/>
            <a:ext cx="128016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2E7D3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114800" y="3593592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114800" y="3593592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577840" y="3593592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577840" y="3593592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040880" y="3593592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040880" y="3593592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503920" y="3593592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503920" y="3593592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74320" y="3886200"/>
            <a:ext cx="256032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12420" y="3886200"/>
            <a:ext cx="248412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Customer Trust Potential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834640" y="3886200"/>
            <a:ext cx="128016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34640" y="3886200"/>
            <a:ext cx="128016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C628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114800" y="3886200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114800" y="3886200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577840" y="3886200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577840" y="3886200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040880" y="3886200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040880" y="3886200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503920" y="3886200"/>
            <a:ext cx="1463040" cy="29260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503920" y="3886200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74320" y="4178808"/>
            <a:ext cx="2560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12420" y="4178808"/>
            <a:ext cx="248412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700" b="0">
                <a:solidFill>
                  <a:srgbClr val="1A1A2E"/>
                </a:solidFill>
                <a:latin typeface="Calibri"/>
              </a:defRPr>
            </a:pPr>
            <a:r>
              <a:t>Deterministic Output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834640" y="4178808"/>
            <a:ext cx="12801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834640" y="4178808"/>
            <a:ext cx="128016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1">
                <a:solidFill>
                  <a:srgbClr val="2E7D3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114800" y="4178808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114800" y="4178808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577840" y="4178808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577840" y="4178808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040880" y="4178808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040880" y="4178808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503920" y="4178808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503920" y="4178808"/>
            <a:ext cx="1463040" cy="292608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800" b="0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74320" y="4471416"/>
            <a:ext cx="2560320" cy="32004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74320" y="4484116"/>
            <a:ext cx="256032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834640" y="4471416"/>
            <a:ext cx="1280160" cy="32004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834640" y="4484116"/>
            <a:ext cx="128016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114800" y="4471416"/>
            <a:ext cx="1463040" cy="32004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114800" y="4484116"/>
            <a:ext cx="146304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577840" y="4471416"/>
            <a:ext cx="1463040" cy="32004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577840" y="4484116"/>
            <a:ext cx="146304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040880" y="4471416"/>
            <a:ext cx="1463040" cy="32004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040880" y="4484116"/>
            <a:ext cx="146304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503920" y="4471416"/>
            <a:ext cx="1463040" cy="32004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503920" y="4484116"/>
            <a:ext cx="146304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149840" y="548640"/>
            <a:ext cx="1767535" cy="292608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226040" y="599440"/>
            <a:ext cx="1615135" cy="28346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STRATEGIC READ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HESPERIA wins on: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  Product, Explainability,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  Differentiation, Determinism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  → Structural advantages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HESPERIA loses on: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  Brand, Distribution, Resources,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  Integration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  → Execution gaps (close w/ time)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STATUS QUO = real competitor (28).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Fight is "us vs doing nothing,"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not "us vs Arize."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0149840" y="3566160"/>
            <a:ext cx="1767535" cy="1371600"/>
          </a:xfrm>
          <a:prstGeom prst="rect">
            <a:avLst/>
          </a:prstGeom>
          <a:solidFill>
            <a:srgbClr val="F0F4F8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0226040" y="3611880"/>
            <a:ext cx="1615135" cy="12801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KEY INSIGHT: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Status Quo scores 28 — nearly tied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with HESPERIA (29). Already everywhere,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free, trusted, zero switching cost.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HESPERIA is honest about gaps: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  Resources = 1 (solo founder)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  Integration = 1 (no pre-built)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  Customer Trust = 2 (unproven)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Wedge: start where status quo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1A1A2E"/>
                </a:solidFill>
                <a:latin typeface="Calibri"/>
              </a:defRPr>
            </a:pPr>
            <a:r>
              <a:t>fails — compliance, legal, finance.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74320" y="5669280"/>
            <a:ext cx="11612880" cy="100584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7200" y="5720080"/>
            <a:ext cx="11247120" cy="9144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Competitor funding context:  Arize AI = $131M (Series C, 2025)  ·  Arthur AI = $63M (Series B, 2022)  ·  Patronus AI = $17M (Series A, 2024)  ·  HESPERIA = bootstrapped (solo founder)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All three substitutes validate the market. None produce deterministic meaning — they monitor probabilistic instability after the fact.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Adoption friction is the main risk. Substitutes are easier to bolt on. Wedge: start where auditability is non-negotiable (compliance, legal, finance).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Revenue Streams &amp; Cost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0" cy="640080"/>
          </a:xfrm>
          <a:prstGeom prst="rect">
            <a:avLst/>
          </a:prstGeom>
          <a:solidFill>
            <a:srgbClr val="F0F4F8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2286000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Usage-Based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024128"/>
            <a:ext cx="2743200" cy="5943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€0.05-0.20/document, tiered by volume. Low barrier to entry.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86400" cy="640080"/>
          </a:xfrm>
          <a:prstGeom prst="rect">
            <a:avLst/>
          </a:prstGeom>
          <a:solidFill>
            <a:srgbClr val="F0F4F8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2286000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Enterprise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755648"/>
            <a:ext cx="2743200" cy="5943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ACV €5,000-€20,000/yr (midpoint €10K). Compliance + SLA.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5486400" cy="640080"/>
          </a:xfrm>
          <a:prstGeom prst="rect">
            <a:avLst/>
          </a:prstGeom>
          <a:solidFill>
            <a:srgbClr val="F0F4F8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2286000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TRIZ Extension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87168"/>
            <a:ext cx="2743200" cy="5943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+50-100% premium. Contradiction intelligence, innovation radar. Future.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5486400" cy="640080"/>
          </a:xfrm>
          <a:prstGeom prst="rect">
            <a:avLst/>
          </a:prstGeom>
          <a:solidFill>
            <a:srgbClr val="F0F4F8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18688"/>
            <a:ext cx="2286000" cy="27432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On-Premise 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18688"/>
            <a:ext cx="2743200" cy="5943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€10,000-30,000/yr. Air-gapped / regulated environments.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Revenue Projection (conservative, bottom-up):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5303520" cy="1371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Year 1:  €25,000-100,000     (5-10 customers, Moldova)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Year 2:  €200,000-500,000    (30-60 customers, MD + RO)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Year 3:  €800,000-1,500,000  (80-120 customers, €1M ARR target)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Year 5:  €2,000,000-4,000,000 (200+ customers, CEE/EU)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5303520" cy="5029200"/>
          </a:xfrm>
          <a:prstGeom prst="rect">
            <a:avLst/>
          </a:prstGeom>
          <a:solidFill>
            <a:srgbClr val="F0F4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097280"/>
            <a:ext cx="4937760" cy="475488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COST STRUCTURE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Value-driven · No GPU costs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(deterministic, CPU-only engine)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Fixed costs (~€2,000-2,500/mo):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• Server: €50-200/mo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• Domain, tools, GitHub: ~€50/mo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• Founder opportunity cost: ~€1,500-2,000/mo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• Legal / IT Park registration: ~€500 one-time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Variable costs: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• Pilot support (founder time, ~40h each)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• API compute (linear, minimal per-doc)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• Marketing: zero initially (organic)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Year 1 burn rate: €24,000-36,000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Year 2 (with 1 hire): €60,000-80,000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Break-even: 8-12 contracts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@ €5,000-10,000/yr each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Economies of scope: same engine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serves all 7 product 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Assumptions to Validate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Key Assumptions (hypotheses, not forecasts):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32004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1. Moldova IT companies building AI products need output measurement tooling.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2. ACV of €5,000-€20,000/yr is acceptable for target B2B (Sinequa/Expert.ai price significantly higher).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3. Determinism and auditability are valued over "smarter" non-reproducible alternatives.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4. Founder can sell directly to 20-50 companies in Year 1 via IT Park network.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5. EU AI Act creates compliance pressure that drives governance tooling purchases.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6. Behind-the-curtain positioning (middleware) is understood by B2B buyers.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7. The niche between symbolic AI, semantic search, and knowledge graphs is commercially viable.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303520" cy="32004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Next Steps: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5029200" cy="36576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→ Customer Development: 10-20 interviews with Moldova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IT company CTOs / lead developers (Assignment N.3).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→ Validate willingness-to-pay: present pricing to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3-5 potential pilot customers.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→ First pilot: structured 6-10 week deployment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with gold-set evaluation at 1 company.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→ Refine BMC: return with validated data after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customer development interviews.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→ Competitor deep dive: Sinequa, Expert.ai, Cogito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Tech, RelationalAI, Diffbot (Assignment N.2 §C).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→ Validate niche positioning: confirm buyers see the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  gap between symbolic AI / semantic search / KGs.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solidFill>
            <a:srgbClr val="1A1A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 tIns="50800" bIns="50800" lIns="76200" rIns="76200"/>
          <a:lstStyle/>
          <a:p>
            <a:pPr algn="ctr"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"The main difference between a startup and a traditional business is that a startup is in the process of discovering its business model, while a traditional business is executing and scaling the business model it has discovered."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— Osterwalder &amp; Pigneur, Business Model Generation (2009)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