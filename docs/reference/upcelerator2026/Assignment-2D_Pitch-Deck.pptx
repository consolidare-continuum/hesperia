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156" y="-22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HESPERIA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64008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2200" b="0">
                <a:solidFill>
                  <a:srgbClr val="007ACC"/>
                </a:solidFill>
                <a:latin typeface="Calibri"/>
              </a:defRPr>
            </a:pPr>
            <a:r>
              <a:t>Deterministic Semantic Infrastructure for AI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13716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Today's AI operates as a probabilistic black box — outputs that are difficult to audit, reproduce, or trust in high-stakes environments. HESPERIA replaces this uncertainty with structured, measurable, and repeatable representations of meaning. Instead of generating answers, it maps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1600" b="1">
                <a:solidFill>
                  <a:srgbClr val="007ACC"/>
                </a:solidFill>
                <a:latin typeface="Calibri"/>
              </a:defRPr>
            </a:pPr>
            <a:r>
              <a:t>Make AI understandable, reliable, and usable where failure is not acceptable.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5486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spcAft>
                <a:spcPts val="3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Upcelerator · Phase 1 · Pitch Deck · March 2026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888888"/>
                </a:solidFill>
                <a:latin typeface="Calibri"/>
              </a:defRPr>
            </a:pPr>
            <a:r>
              <a:t>Igor Platonov · igareosh.com · prichindel.com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2800" b="1">
                <a:solidFill>
                  <a:srgbClr val="0F111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6858000" cy="1143000"/>
          </a:xfrm>
          <a:prstGeom prst="rect">
            <a:avLst/>
          </a:prstGeom>
          <a:solidFill>
            <a:srgbClr val="F0F4F8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8080"/>
            <a:ext cx="6400800" cy="2743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300" b="1">
                <a:solidFill>
                  <a:srgbClr val="C62828"/>
                </a:solidFill>
                <a:latin typeface="Calibri"/>
              </a:defRPr>
            </a:pPr>
            <a:r>
              <a:t>Probabilistic, non-repeatable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6400800" cy="7315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AI systems produce different results for the same input. Specialists cannot verify or reproduce what AI decides.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6858000" cy="1143000"/>
          </a:xfrm>
          <a:prstGeom prst="rect">
            <a:avLst/>
          </a:prstGeom>
          <a:solidFill>
            <a:srgbClr val="F0F4F8"/>
          </a:solidFill>
          <a:ln w="190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28240"/>
            <a:ext cx="6400800" cy="2743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300" b="1">
                <a:solidFill>
                  <a:srgbClr val="E65C00"/>
                </a:solidFill>
                <a:latin typeface="Calibri"/>
              </a:defRPr>
            </a:pPr>
            <a:r>
              <a:t>No auditability in critical environments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6400800" cy="7315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Finance, healthcare, and legal sectors require traceability. Current AI tools cannot provide audit-grade evidence trails.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6858000" cy="1143000"/>
          </a:xfrm>
          <a:prstGeom prst="rect">
            <a:avLst/>
          </a:prstGeom>
          <a:solidFill>
            <a:srgbClr val="F0F4F8"/>
          </a:solidFill>
          <a:ln w="190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08400"/>
            <a:ext cx="6400800" cy="2743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300" b="1">
                <a:solidFill>
                  <a:srgbClr val="7B1FA2"/>
                </a:solidFill>
                <a:latin typeface="Calibri"/>
              </a:defRPr>
            </a:pPr>
            <a:r>
              <a:t>Monitoring ≠ solving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6400800" cy="7315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Existing solutions (Arize, Arthur, Patronus) monitor and explain behavior after the fact. They manage uncertainty — they do not eliminate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6858000" cy="1143000"/>
          </a:xfrm>
          <a:prstGeom prst="rect">
            <a:avLst/>
          </a:prstGeom>
          <a:solidFill>
            <a:srgbClr val="F0F4F8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988560"/>
            <a:ext cx="6400800" cy="2743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Regulation is accelerating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6400800" cy="7315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EU AI Act, GDPR, and sector-specific rules demand structured, explainable outputs. The gap between AI capability and trust is the bottleneck.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097280"/>
            <a:ext cx="4114800" cy="5303520"/>
          </a:xfrm>
          <a:prstGeom prst="rect">
            <a:avLst/>
          </a:prstGeom>
          <a:solidFill>
            <a:srgbClr val="0F11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55279" y="1188720"/>
            <a:ext cx="3749039" cy="5029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THE CORE TENSION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AI capability is growing.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AI trust is not.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Companies need systems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that guarantee consistency,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not tools that explain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inconsistency.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━━━━━━━━━━━━━━━━━━━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Current paradigm: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generate → evaluate → patch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What's needed: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structure → stabilize → audit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2800" b="1">
                <a:solidFill>
                  <a:srgbClr val="0F111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A deterministic semantic engine that converts text into structured, auditable meaning.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6576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58800" y="1722120"/>
            <a:ext cx="3454400" cy="3200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Deterministic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8800" y="2057400"/>
            <a:ext cx="3454400" cy="13716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Same input, same structured output, every time. Hash-verifiable. No drift, no variance, no surprises.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6576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99280" y="1722120"/>
            <a:ext cx="3454400" cy="3200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Fixed Structural Topology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99280" y="2057400"/>
            <a:ext cx="3454400" cy="13716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Maps input into 10 macro domains, 240 policy families, with topology-aware propagation across a fixed graph.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36576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39760" y="1722120"/>
            <a:ext cx="3454400" cy="3200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Evidence Traces &amp; Trust Tiers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9760" y="2057400"/>
            <a:ext cx="3454400" cy="13716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Every output includes evidence (span, label, confidence band) and a trust tier for automated vs. human-review routing.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36576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8800" y="3916680"/>
            <a:ext cx="3454400" cy="3200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7 Product Lines, One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" y="4251960"/>
            <a:ext cx="3454400" cy="13716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Structural measurement, narrative propagation, contradiction intelligence, fingerprint, domain topology, semantic dashboard.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3840480"/>
            <a:ext cx="36576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9280" y="3916680"/>
            <a:ext cx="3454400" cy="3200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Integration-First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9280" y="4251960"/>
            <a:ext cx="3454400" cy="13716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API / CLI. Sits beneath existing AI as a foundational layer. Enhances LLMs — does not replace or compete with them.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840480"/>
            <a:ext cx="3657600" cy="1920240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39760" y="3916680"/>
            <a:ext cx="3454400" cy="3200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Sealed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9760" y="4251960"/>
            <a:ext cx="3454400" cy="13716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0F111A"/>
                </a:solidFill>
                <a:latin typeface="Calibri"/>
              </a:defRPr>
            </a:pPr>
            <a:r>
              <a:t>Public audit manifests (version, checksum, evidence count). Projection layer prevents internal leakage. Compliance-ready.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1000" b="1">
                <a:solidFill>
                  <a:srgbClr val="888888"/>
                </a:solidFill>
                <a:latin typeface="Calibri"/>
              </a:defRPr>
            </a:pPr>
            <a:r>
              <a:t>"Not a better tool — a different system. Competitors optimize uncertainty; HESPERIA eliminates it at the source."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2800" b="1">
                <a:solidFill>
                  <a:srgbClr val="0F111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7315200" cy="36576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Meet a compliance officer at a financial institution.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4114800"/>
          </a:xfrm>
          <a:prstGeom prst="rect">
            <a:avLst/>
          </a:prstGeom>
          <a:solidFill>
            <a:srgbClr val="FDF0EF"/>
          </a:solidFill>
          <a:ln w="63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3200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TODAY (without HESPERIA)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4937760" cy="34747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Relies on AI tools that generate summaries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  and risk assessments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Cannot explain or reproduce decisions reliably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Reviews unclear, inconsistent AI outputs manually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Spends hours on documents that could be pre-screened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Audit trail: incomplete or absent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Compliance: hope-based, not system-based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669280" cy="4114800"/>
          </a:xfrm>
          <a:prstGeom prst="rect">
            <a:avLst/>
          </a:prstGeom>
          <a:solidFill>
            <a:srgbClr val="EFF8F0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303520" cy="3200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200" b="1">
                <a:solidFill>
                  <a:srgbClr val="009688"/>
                </a:solidFill>
                <a:latin typeface="Calibri"/>
              </a:defRPr>
            </a:pPr>
            <a:r>
              <a:t>WITH HESPERIA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34747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Any input (document, report, communication) is mapped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  into a structured semantic space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System identifies concepts, relationships, and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  dominant areas — consistent output every time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Each result is fully traceable to source components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Officer works with a deterministic structure that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  can be audited, compared, and validated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• Risk reduced, decision quality improved,</a:t>
            </a:r>
          </a:p>
          <a:p>
            <a:pPr algn="l">
              <a:spcAft>
                <a:spcPts val="300"/>
              </a:spcAft>
              <a:defRPr sz="1000" b="0">
                <a:solidFill>
                  <a:srgbClr val="0F111A"/>
                </a:solidFill>
                <a:latin typeface="Calibri"/>
              </a:defRPr>
            </a:pPr>
            <a:r>
              <a:t>  compliance readiness by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solidFill>
            <a:srgbClr val="0F11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11064240" cy="64008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1100" b="1">
                <a:solidFill>
                  <a:srgbClr val="007ACC"/>
                </a:solidFill>
                <a:latin typeface="Calibri"/>
              </a:defRPr>
            </a:pPr>
            <a:r>
              <a:rPr dirty="0"/>
              <a:t>Text Input  →  Lexicon Attribution  → Execution Flow  →  Topology Propagation  →  Projection Gate  →  Public JSON + Evidence + Trust Tier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2800" b="1">
                <a:solidFill>
                  <a:srgbClr val="0F111A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400" b="1">
                <a:solidFill>
                  <a:srgbClr val="007ACC"/>
                </a:solidFill>
                <a:latin typeface="Calibri"/>
              </a:defRPr>
            </a:pPr>
            <a:r>
              <a:t>AI infrastructure × compliance-driven enterprise software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474720" cy="2194560"/>
          </a:xfrm>
          <a:prstGeom prst="rect">
            <a:avLst/>
          </a:prstGeom>
          <a:solidFill>
            <a:srgbClr val="F0F4F8"/>
          </a:solidFill>
          <a:ln w="2540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30680"/>
            <a:ext cx="3474720" cy="2743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1100" b="1">
                <a:solidFill>
                  <a:srgbClr val="007ACC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47472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2400" b="1">
                <a:solidFill>
                  <a:srgbClr val="007ACC"/>
                </a:solidFill>
                <a:latin typeface="Calibri"/>
              </a:defRPr>
            </a:pPr>
            <a:r>
              <a:t>€5B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3474720" cy="9144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900" b="0">
                <a:solidFill>
                  <a:srgbClr val="0F111A"/>
                </a:solidFill>
                <a:latin typeface="Calibri"/>
              </a:defRPr>
            </a:pPr>
            <a:r>
              <a:t>Bottom-up: 500K companies × €10K</a:t>
            </a:r>
            <a:br/>
            <a:r>
              <a:t>Industry context: $10–15B+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474720" cy="2194560"/>
          </a:xfrm>
          <a:prstGeom prst="rect">
            <a:avLst/>
          </a:prstGeom>
          <a:solidFill>
            <a:srgbClr val="F0F4F8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630680"/>
            <a:ext cx="3474720" cy="2743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1100" b="1">
                <a:solidFill>
                  <a:srgbClr val="009688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347472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€200M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51760"/>
            <a:ext cx="3474720" cy="9144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900" b="0">
                <a:solidFill>
                  <a:srgbClr val="0F111A"/>
                </a:solidFill>
                <a:latin typeface="Calibri"/>
              </a:defRPr>
            </a:pPr>
            <a:r>
              <a:t>~20,000 EU companies</a:t>
            </a:r>
            <a:br/>
            <a:r>
              <a:t>with compliance pressure</a:t>
            </a:r>
            <a:br/>
            <a:r>
              <a:t>ACV €5–20K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3474720" cy="2194560"/>
          </a:xfrm>
          <a:prstGeom prst="rect">
            <a:avLst/>
          </a:prstGeom>
          <a:solidFill>
            <a:srgbClr val="F0F4F8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630680"/>
            <a:ext cx="3474720" cy="2743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1100" b="1">
                <a:solidFill>
                  <a:srgbClr val="E65C00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47472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2400" b="1">
                <a:solidFill>
                  <a:srgbClr val="E65C00"/>
                </a:solidFill>
                <a:latin typeface="Calibri"/>
              </a:defRPr>
            </a:pPr>
            <a:r>
              <a:t>€1M ARR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651760"/>
            <a:ext cx="3474720" cy="9144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900" b="0">
                <a:solidFill>
                  <a:srgbClr val="0F111A"/>
                </a:solidFill>
                <a:latin typeface="Calibri"/>
              </a:defRPr>
            </a:pPr>
            <a:r>
              <a:t>100 companies × €10K</a:t>
            </a:r>
            <a:br/>
            <a:r>
              <a:t>Yr 1–3 realistic capture</a:t>
            </a:r>
            <a:br/>
            <a:r>
              <a:t>Bottom-up: real ×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3657600" cy="2560320"/>
          </a:xfrm>
          <a:prstGeom prst="rect">
            <a:avLst/>
          </a:prstGeom>
          <a:solidFill>
            <a:srgbClr val="0F11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291840" cy="23774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INDUSTRIES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• AI / ML Infrastructure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• AI Observability &amp; Monitoring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• Enterprise Software (SaaS)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• Risk &amp; Compliance Tech (RegTech)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• Data Analytics / Decision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4023360"/>
            <a:ext cx="3657600" cy="2560320"/>
          </a:xfrm>
          <a:prstGeom prst="rect">
            <a:avLst/>
          </a:prstGeom>
          <a:solidFill>
            <a:srgbClr val="0F11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0" y="4114800"/>
            <a:ext cx="3291840" cy="23774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GEOGRAPHY (phased)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Yr 1–2: Chișinău, Moldova (beachhead)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Moldova IT Park: 2,725 companies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$1B turnover, 25,000+ employees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Yr 2–3: Romania → EU priority markets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  (stricter compliance needs)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Yr 3–5: Full EU / enterprise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4023360"/>
            <a:ext cx="3657600" cy="2560320"/>
          </a:xfrm>
          <a:prstGeom prst="rect">
            <a:avLst/>
          </a:prstGeom>
          <a:solidFill>
            <a:srgbClr val="0F11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4114800"/>
            <a:ext cx="3291840" cy="23774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TARGET BUYERS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• CTO / Head of AI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• Risk &amp; Compliance Officers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• Product Owners (AI systems)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Company: 50–5,000+ employees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Revenue: €1M – €500M+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endParaRPr/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Key: deploying AI in production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FFFFFF"/>
                </a:solidFill>
                <a:latin typeface="Calibri"/>
              </a:defRPr>
            </a:pPr>
            <a:r>
              <a:t>with regulatory or financial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95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2800" b="1">
                <a:solidFill>
                  <a:srgbClr val="0F111A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502920"/>
          </a:xfrm>
          <a:prstGeom prst="rect">
            <a:avLst/>
          </a:prstGeom>
          <a:solidFill>
            <a:srgbClr val="007A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27432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SUBSTITUTES</a:t>
            </a:r>
            <a:br/>
            <a:r>
              <a:t>(post-hoc monitoring)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743200" cy="1645920"/>
          </a:xfrm>
          <a:prstGeom prst="rect">
            <a:avLst/>
          </a:prstGeom>
          <a:solidFill>
            <a:srgbClr val="F0F4F8"/>
          </a:solidFill>
          <a:ln w="63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400" y="1463040"/>
            <a:ext cx="2590800" cy="109728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Arize AI ($131M)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Arthur AI ($63M)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Patronus AI ($17M)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LangSmith, W&amp;B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606040"/>
            <a:ext cx="2590800" cy="36576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700" b="1">
                <a:solidFill>
                  <a:srgbClr val="007ACC"/>
                </a:solidFill>
                <a:latin typeface="Calibri"/>
              </a:defRPr>
            </a:pPr>
            <a:r>
              <a:t>Detect, explain, report. Reactive paradigm.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914400"/>
            <a:ext cx="2743200" cy="502920"/>
          </a:xfrm>
          <a:prstGeom prst="rect">
            <a:avLst/>
          </a:prstGeom>
          <a:solidFill>
            <a:srgbClr val="00968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932688"/>
            <a:ext cx="27432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DIRECT</a:t>
            </a:r>
            <a:br/>
            <a:r>
              <a:t>(structured meaning)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417320"/>
            <a:ext cx="2743200" cy="1645920"/>
          </a:xfrm>
          <a:prstGeom prst="rect">
            <a:avLst/>
          </a:prstGeom>
          <a:solidFill>
            <a:srgbClr val="F0F4F8"/>
          </a:solidFill>
          <a:ln w="63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13760" y="1463040"/>
            <a:ext cx="2590800" cy="109728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Expert.ai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Sinequa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Diffbot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RelationalAI, spaCy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3760" y="2606040"/>
            <a:ext cx="2590800" cy="36576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700" b="1">
                <a:solidFill>
                  <a:srgbClr val="009688"/>
                </a:solidFill>
                <a:latin typeface="Calibri"/>
              </a:defRPr>
            </a:pPr>
            <a:r>
              <a:t>Fragmented. None deliver full deterministic package.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14400"/>
            <a:ext cx="2743200" cy="502920"/>
          </a:xfrm>
          <a:prstGeom prst="rect">
            <a:avLst/>
          </a:prstGeom>
          <a:solidFill>
            <a:srgbClr val="7B1FA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932688"/>
            <a:ext cx="27432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INDIRECT</a:t>
            </a:r>
            <a:br/>
            <a:r>
              <a:t>(probabilistic paradigm)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2743200" cy="1645920"/>
          </a:xfrm>
          <a:prstGeom prst="rect">
            <a:avLst/>
          </a:prstGeom>
          <a:solidFill>
            <a:srgbClr val="F0F4F8"/>
          </a:solidFill>
          <a:ln w="635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94120" y="1463040"/>
            <a:ext cx="2590800" cy="109728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OpenAI, Anthropic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Google, Cohere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Pinecone / Weaviate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4120" y="2606040"/>
            <a:ext cx="2590800" cy="36576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700" b="1">
                <a:solidFill>
                  <a:srgbClr val="7B1FA2"/>
                </a:solidFill>
                <a:latin typeface="Calibri"/>
              </a:defRPr>
            </a:pPr>
            <a:r>
              <a:t>Dominant approach. Non-deterministic by nature.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914400"/>
            <a:ext cx="2743200" cy="502920"/>
          </a:xfrm>
          <a:prstGeom prst="rect">
            <a:avLst/>
          </a:prstGeom>
          <a:solidFill>
            <a:srgbClr val="E65C0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932688"/>
            <a:ext cx="2743200" cy="45720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STATUS QUO</a:t>
            </a:r>
            <a:br/>
            <a:r>
              <a:t>(strongest competitor)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8280" y="1417320"/>
            <a:ext cx="2743200" cy="1645920"/>
          </a:xfrm>
          <a:prstGeom prst="rect">
            <a:avLst/>
          </a:prstGeom>
          <a:solidFill>
            <a:srgbClr val="F0F4F8"/>
          </a:solidFill>
          <a:ln w="635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74480" y="1463040"/>
            <a:ext cx="2590800" cy="109728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Manual review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Spreadsheets, keyword search</a:t>
            </a:r>
          </a:p>
          <a:p>
            <a:pPr algn="l">
              <a:spcAft>
                <a:spcPts val="300"/>
              </a:spcAft>
              <a:defRPr sz="900" b="0">
                <a:solidFill>
                  <a:srgbClr val="0F111A"/>
                </a:solidFill>
                <a:latin typeface="Calibri"/>
              </a:defRPr>
            </a:pPr>
            <a:r>
              <a:t>• "Good enough" ChatGPT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4480" y="2606040"/>
            <a:ext cx="2590800" cy="36576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700" b="1">
                <a:solidFill>
                  <a:srgbClr val="E65C00"/>
                </a:solidFill>
                <a:latin typeface="Calibri"/>
              </a:defRPr>
            </a:pPr>
            <a:r>
              <a:t>Free. Trusted. Already everywhere. Zero switching cost.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91840"/>
            <a:ext cx="11430000" cy="1554480"/>
          </a:xfrm>
          <a:prstGeom prst="rect">
            <a:avLst/>
          </a:prstGeom>
          <a:solidFill>
            <a:srgbClr val="0F111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383280"/>
            <a:ext cx="11064240" cy="27432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100" b="1">
                <a:solidFill>
                  <a:srgbClr val="007ACC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703320"/>
            <a:ext cx="11064240" cy="10058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HESPERIA's advantage is structural, not incremental. While competitors monitor or explain probabilistic AI outputs after the fact, HESPERIA produces stable, auditable meaning by design. The engine is deterministic — same input, same output, every time — with evidence traces and trust tiers in every result. This shifts the paradigm from observing AI behavior to defining AI meaning. Competitors optimize uncertainty; HESPERIA eliminates it at the source.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11430000" cy="777240"/>
          </a:xfrm>
          <a:prstGeom prst="rect">
            <a:avLst/>
          </a:prstGeom>
          <a:solidFill>
            <a:srgbClr val="007A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10515600" cy="548640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"Others monitor unstable AI outputs.  HESPERIA produces stable, auditable meaning by design."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35040"/>
            <a:ext cx="16459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602234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1">
                <a:solidFill>
                  <a:srgbClr val="FFFFFF"/>
                </a:solidFill>
                <a:latin typeface="Calibri"/>
              </a:defRPr>
            </a:pP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03120" y="6035040"/>
            <a:ext cx="7315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20" y="602234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HESP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6035040"/>
            <a:ext cx="7315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34640" y="602234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Arize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6035040"/>
            <a:ext cx="7315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566160" y="602234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Arthur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6035040"/>
            <a:ext cx="7315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602234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Patron.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0" y="6035040"/>
            <a:ext cx="82296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0" y="602234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Status Q.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6126480"/>
            <a:ext cx="16459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611378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0">
                <a:solidFill>
                  <a:srgbClr val="0F111A"/>
                </a:solidFill>
                <a:latin typeface="Calibri"/>
              </a:defRPr>
            </a:pPr>
            <a:r>
              <a:t>Product depth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0" y="612648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03120" y="611378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0F11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612648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834640" y="611378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612648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566160" y="611378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97680" y="612648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297680" y="611378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0" y="6126480"/>
            <a:ext cx="82296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29200" y="611378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6217920"/>
            <a:ext cx="16459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20522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0">
                <a:solidFill>
                  <a:srgbClr val="0F111A"/>
                </a:solidFill>
                <a:latin typeface="Calibri"/>
              </a:defRPr>
            </a:pPr>
            <a:r>
              <a:t>Explainability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621792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03120" y="620522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0F11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621792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834640" y="620522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66160" y="621792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566160" y="620522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621792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297680" y="620522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0" y="6217920"/>
            <a:ext cx="82296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9200" y="620522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309360"/>
            <a:ext cx="16459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57200" y="629666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0">
                <a:solidFill>
                  <a:srgbClr val="0F111A"/>
                </a:solidFill>
                <a:latin typeface="Calibri"/>
              </a:defRPr>
            </a:pPr>
            <a:r>
              <a:t>Differentiation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630936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2103120" y="629666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0F11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40" y="630936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834640" y="629666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66160" y="630936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566160" y="629666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97680" y="630936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297680" y="629666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0" y="6309360"/>
            <a:ext cx="82296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0" y="629666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400800"/>
            <a:ext cx="16459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638810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0">
                <a:solidFill>
                  <a:srgbClr val="0F111A"/>
                </a:solidFill>
                <a:latin typeface="Calibri"/>
              </a:defRPr>
            </a:pPr>
            <a:r>
              <a:t>Deterministic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03120" y="640080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03120" y="638810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0F11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4640" y="640080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834640" y="638810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566160" y="640080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566160" y="638810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97680" y="640080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297680" y="638810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0" y="6400800"/>
            <a:ext cx="82296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029200" y="638810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7200" y="6492240"/>
            <a:ext cx="16459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57200" y="647954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0">
                <a:solidFill>
                  <a:srgbClr val="0F111A"/>
                </a:solidFill>
                <a:latin typeface="Calibri"/>
              </a:defRPr>
            </a:pPr>
            <a:r>
              <a:t>Compliance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03120" y="649224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2103120" y="647954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0F11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834640" y="649224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834640" y="647954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66160" y="649224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3566160" y="647954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297680" y="649224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297680" y="647954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029200" y="6492240"/>
            <a:ext cx="82296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029200" y="647954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6583680"/>
            <a:ext cx="16459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" y="657098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0">
                <a:solidFill>
                  <a:srgbClr val="0F111A"/>
                </a:solidFill>
                <a:latin typeface="Calibri"/>
              </a:defRPr>
            </a:pPr>
            <a:r>
              <a:t>Brand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103120" y="658368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2103120" y="657098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834640" y="658368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834640" y="657098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566160" y="658368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566160" y="657098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97680" y="6583680"/>
            <a:ext cx="73152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4297680" y="657098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0" y="6583680"/>
            <a:ext cx="822960" cy="100584"/>
          </a:xfrm>
          <a:prstGeom prst="rect">
            <a:avLst/>
          </a:prstGeom>
          <a:solidFill>
            <a:srgbClr val="F0F4F8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5029200" y="657098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57200" y="6675120"/>
            <a:ext cx="16459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57200" y="666242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0">
                <a:solidFill>
                  <a:srgbClr val="0F111A"/>
                </a:solidFill>
                <a:latin typeface="Calibri"/>
              </a:defRPr>
            </a:pPr>
            <a:r>
              <a:t>Resources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03120" y="667512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103120" y="666242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834640" y="667512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834640" y="666242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566160" y="667512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3566160" y="666242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97680" y="6675120"/>
            <a:ext cx="73152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297680" y="666242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29200" y="6675120"/>
            <a:ext cx="822960" cy="100584"/>
          </a:xfrm>
          <a:prstGeom prst="rect">
            <a:avLst/>
          </a:prstGeom>
          <a:solidFill>
            <a:srgbClr val="FFFFFF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5029200" y="666242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0">
                <a:solidFill>
                  <a:srgbClr val="0F11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57200" y="6766560"/>
            <a:ext cx="16459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57200" y="6753860"/>
            <a:ext cx="16459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l">
              <a:defRPr sz="500" b="1">
                <a:solidFill>
                  <a:srgbClr val="FFFFFF"/>
                </a:solidFill>
                <a:latin typeface="Calibri"/>
              </a:defRPr>
            </a:pPr>
            <a:r>
              <a:t>TOTAL (12 criteria)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103120" y="6766560"/>
            <a:ext cx="7315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2103120" y="675386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834640" y="6766560"/>
            <a:ext cx="7315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2834640" y="675386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566160" y="6766560"/>
            <a:ext cx="7315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566160" y="675386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97680" y="6766560"/>
            <a:ext cx="73152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4297680" y="6753860"/>
            <a:ext cx="73152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0" y="6766560"/>
            <a:ext cx="822960" cy="100584"/>
          </a:xfrm>
          <a:prstGeom prst="rect">
            <a:avLst/>
          </a:prstGeom>
          <a:solidFill>
            <a:srgbClr val="0F111A"/>
          </a:solidFill>
          <a:ln w="254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5029200" y="6753860"/>
            <a:ext cx="822960" cy="100584"/>
          </a:xfrm>
          <a:prstGeom prst="rect">
            <a:avLst/>
          </a:prstGeom>
          <a:noFill/>
        </p:spPr>
        <p:txBody>
          <a:bodyPr wrap="square" lIns="76200" tIns="50800" rIns="76200" bIns="50800"/>
          <a:lstStyle/>
          <a:p>
            <a:pPr algn="ctr">
              <a:defRPr sz="500" b="1">
                <a:solidFill>
                  <a:srgbClr val="FFFFFF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1047</Words>
  <Application>Microsoft Office PowerPoint</Application>
  <PresentationFormat>Widescreen</PresentationFormat>
  <Paragraphs>196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Lavontop Igor</cp:lastModifiedBy>
  <cp:revision>2</cp:revision>
  <dcterms:created xsi:type="dcterms:W3CDTF">2013-01-27T09:14:16Z</dcterms:created>
  <dcterms:modified xsi:type="dcterms:W3CDTF">2026-03-29T19:39:44Z</dcterms:modified>
  <cp:category/>
</cp:coreProperties>
</file>